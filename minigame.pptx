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9" r:id="rId5"/>
    <p:sldId id="258" r:id="rId6"/>
    <p:sldId id="260" r:id="rId7"/>
    <p:sldId id="261" r:id="rId8"/>
    <p:sldId id="262" r:id="rId9"/>
    <p:sldId id="263" r:id="rId10"/>
    <p:sldId id="264" r:id="rId11"/>
    <p:sldId id="269" r:id="rId12"/>
    <p:sldId id="266" r:id="rId13"/>
    <p:sldId id="267" r:id="rId14"/>
  </p:sldIdLst>
  <p:sldSz cx="12192000" cy="6858000"/>
  <p:notesSz cx="6858000" cy="9144000"/>
  <p:custShowLst>
    <p:custShow name="KHTN" id="0">
      <p:sldLst>
        <p:sld r:id="rId6"/>
        <p:sld r:id="rId5"/>
        <p:sld r:id="rId7"/>
        <p:sld r:id="rId8"/>
        <p:sld r:id="rId9"/>
        <p:sld r:id="rId10"/>
        <p:sld r:id="rId11"/>
      </p:sldLst>
    </p:custShow>
    <p:custShow name="CNTT" id="1">
      <p:sldLst>
        <p:sld r:id="rId6"/>
        <p:sld r:id="rId5"/>
        <p:sld r:id="rId7"/>
        <p:sld r:id="rId13"/>
        <p:sld r:id="rId14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993D2-74ED-416D-8C80-72BF86E670B8}" v="10" dt="2026-01-25T06:49:57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660"/>
  </p:normalViewPr>
  <p:slideViewPr>
    <p:cSldViewPr snapToGrid="0">
      <p:cViewPr>
        <p:scale>
          <a:sx n="76" d="100"/>
          <a:sy n="76" d="100"/>
        </p:scale>
        <p:origin x="220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A3690A9E-3236-75A8-4CDA-84C040216D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7392C6BD-EBC8-12B9-341D-746BA6D761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19290-C5BF-4BFC-982A-7E0315CFCFD4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779362AC-591C-479B-C984-9E3FCD181E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A42EF07-3372-9912-8E67-ACBBFB009B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8DC20-3C3F-4FA4-9AFB-2F1A0B7759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07018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93C0F-00E4-43A7-A4DD-4D4004263548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F043-EF16-4765-83FF-D94780EAFD9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01282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13631" y="6146276"/>
            <a:ext cx="948983" cy="488623"/>
          </a:xfrm>
        </p:spPr>
        <p:txBody>
          <a:bodyPr/>
          <a:lstStyle>
            <a:lvl1pPr>
              <a:defRPr b="1"/>
            </a:lvl1pPr>
          </a:lstStyle>
          <a:p>
            <a:fld id="{D61289C9-9F42-478C-BEBB-E729C7FCF667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566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vi-VN" dirty="0"/>
          </a:p>
          <a:p>
            <a:pPr lvl="1"/>
            <a:r>
              <a:rPr lang="vi-VN" dirty="0"/>
              <a:t>Second level</a:t>
            </a:r>
          </a:p>
          <a:p>
            <a:pPr lvl="2"/>
            <a:r>
              <a:rPr lang="vi-VN" dirty="0"/>
              <a:t>Third level</a:t>
            </a:r>
          </a:p>
          <a:p>
            <a:pPr lvl="3"/>
            <a:r>
              <a:rPr lang="vi-VN" dirty="0"/>
              <a:t>Fourth level</a:t>
            </a:r>
          </a:p>
          <a:p>
            <a:pPr lvl="4"/>
            <a:r>
              <a:rPr lang="vi-VN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15198" y="6239483"/>
            <a:ext cx="764215" cy="365125"/>
          </a:xfrm>
        </p:spPr>
        <p:txBody>
          <a:bodyPr/>
          <a:lstStyle>
            <a:lvl1pPr>
              <a:defRPr b="1"/>
            </a:lvl1pPr>
          </a:lstStyle>
          <a:p>
            <a:fld id="{D61289C9-9F42-478C-BEBB-E729C7FCF667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0043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64923" y="6249972"/>
            <a:ext cx="825972" cy="366074"/>
          </a:xfrm>
        </p:spPr>
        <p:txBody>
          <a:bodyPr/>
          <a:lstStyle>
            <a:lvl1pPr>
              <a:defRPr b="1"/>
            </a:lvl1pPr>
          </a:lstStyle>
          <a:p>
            <a:fld id="{D61289C9-9F42-478C-BEBB-E729C7FCF667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6138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vi-VN" dirty="0"/>
          </a:p>
          <a:p>
            <a:pPr lvl="1"/>
            <a:r>
              <a:rPr lang="vi-VN" dirty="0"/>
              <a:t>Second level</a:t>
            </a:r>
          </a:p>
          <a:p>
            <a:pPr lvl="2"/>
            <a:r>
              <a:rPr lang="vi-VN" dirty="0"/>
              <a:t>Third level</a:t>
            </a:r>
          </a:p>
          <a:p>
            <a:pPr lvl="3"/>
            <a:r>
              <a:rPr lang="vi-VN" dirty="0"/>
              <a:t>Fourth level</a:t>
            </a:r>
          </a:p>
          <a:p>
            <a:pPr lvl="4"/>
            <a:r>
              <a:rPr lang="vi-VN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1654" y="6228485"/>
            <a:ext cx="92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u="sng">
                <a:solidFill>
                  <a:schemeClr val="bg1"/>
                </a:solidFill>
              </a:defRPr>
            </a:lvl1pPr>
          </a:lstStyle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1514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bg1"/>
          </a:solidFill>
          <a:effectLst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bg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-"/>
        <a:defRPr sz="2800" kern="1200" cap="all" baseline="0">
          <a:solidFill>
            <a:schemeClr val="bg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+"/>
        <a:defRPr sz="2400" kern="1200" cap="all" baseline="0">
          <a:solidFill>
            <a:schemeClr val="bg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bg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bg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032525" y="185177"/>
            <a:ext cx="2985929" cy="765131"/>
          </a:xfrm>
          <a:custGeom>
            <a:avLst/>
            <a:gdLst/>
            <a:ahLst/>
            <a:cxnLst/>
            <a:rect l="l" t="t" r="r" b="b"/>
            <a:pathLst>
              <a:path w="4478893" h="1147697">
                <a:moveTo>
                  <a:pt x="0" y="0"/>
                </a:moveTo>
                <a:lnTo>
                  <a:pt x="4478893" y="0"/>
                </a:lnTo>
                <a:lnTo>
                  <a:pt x="4478893" y="1147697"/>
                </a:lnTo>
                <a:lnTo>
                  <a:pt x="0" y="114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426" r="-35379"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558968" y="500263"/>
            <a:ext cx="130119" cy="103623"/>
          </a:xfrm>
          <a:custGeom>
            <a:avLst/>
            <a:gdLst/>
            <a:ahLst/>
            <a:cxnLst/>
            <a:rect l="l" t="t" r="r" b="b"/>
            <a:pathLst>
              <a:path w="195179" h="155434">
                <a:moveTo>
                  <a:pt x="0" y="0"/>
                </a:moveTo>
                <a:lnTo>
                  <a:pt x="195179" y="0"/>
                </a:lnTo>
                <a:lnTo>
                  <a:pt x="195179" y="155434"/>
                </a:lnTo>
                <a:lnTo>
                  <a:pt x="0" y="155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83253" y="1510487"/>
            <a:ext cx="9025495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8"/>
              </a:lnSpc>
            </a:pPr>
            <a:r>
              <a:rPr lang="en-US" sz="4600" b="1" spc="147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PHÁT TRIỂN VÀ GIỚI THIỆU MỘT CÔNG CỤ DÒNG LỆNH TRÒ CHƠI ĐƠN GIẢN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83565" y="3680352"/>
            <a:ext cx="7005521" cy="655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Dancing Script"/>
                <a:cs typeface="Times New Roman" panose="02020603050405020304" pitchFamily="18" charset="0"/>
                <a:sym typeface="Dancing Script"/>
              </a:rPr>
              <a:t>Vinh </a:t>
            </a:r>
            <a:r>
              <a:rPr lang="en-US" sz="4000" dirty="0" err="1">
                <a:solidFill>
                  <a:srgbClr val="FFFFFF"/>
                </a:solidFill>
                <a:latin typeface="Times New Roman" panose="02020603050405020304" pitchFamily="18" charset="0"/>
                <a:ea typeface="Dancing Script"/>
                <a:cs typeface="Times New Roman" panose="02020603050405020304" pitchFamily="18" charset="0"/>
                <a:sym typeface="Dancing Script"/>
              </a:rPr>
              <a:t>Hiển</a:t>
            </a: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Dancing Script"/>
                <a:cs typeface="Times New Roman" panose="02020603050405020304" pitchFamily="18" charset="0"/>
                <a:sym typeface="Dancing Script"/>
              </a:rPr>
              <a:t> - </a:t>
            </a:r>
            <a:r>
              <a:rPr lang="en-US" sz="4000" dirty="0" err="1">
                <a:solidFill>
                  <a:srgbClr val="FFFFFF"/>
                </a:solidFill>
                <a:latin typeface="Times New Roman" panose="02020603050405020304" pitchFamily="18" charset="0"/>
                <a:ea typeface="Dancing Script"/>
                <a:cs typeface="Times New Roman" panose="02020603050405020304" pitchFamily="18" charset="0"/>
                <a:sym typeface="Dancing Script"/>
              </a:rPr>
              <a:t>Nguyên</a:t>
            </a: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Dancing Script"/>
                <a:cs typeface="Times New Roman" panose="02020603050405020304" pitchFamily="18" charset="0"/>
                <a:sym typeface="Dancing Script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imes New Roman" panose="02020603050405020304" pitchFamily="18" charset="0"/>
                <a:ea typeface="Dancing Script"/>
                <a:cs typeface="Times New Roman" panose="02020603050405020304" pitchFamily="18" charset="0"/>
                <a:sym typeface="Dancing Script"/>
              </a:rPr>
              <a:t>Thảo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ea typeface="Dancing Script"/>
              <a:cs typeface="Times New Roman" panose="02020603050405020304" pitchFamily="18" charset="0"/>
              <a:sym typeface="Dancing Scrip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24509" y="454293"/>
            <a:ext cx="1835574" cy="165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21"/>
              </a:lnSpc>
            </a:pPr>
            <a:r>
              <a:rPr lang="en-US" sz="1053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Thuyết</a:t>
            </a:r>
            <a:r>
              <a:rPr lang="en-US" sz="105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trình</a:t>
            </a:r>
            <a:r>
              <a:rPr lang="en-US" sz="105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dự</a:t>
            </a:r>
            <a:r>
              <a:rPr lang="en-US" sz="105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án</a:t>
            </a:r>
            <a:r>
              <a:rPr lang="en-US" sz="105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558892" y="426494"/>
            <a:ext cx="324206" cy="376437"/>
          </a:xfrm>
          <a:custGeom>
            <a:avLst/>
            <a:gdLst/>
            <a:ahLst/>
            <a:cxnLst/>
            <a:rect l="l" t="t" r="r" b="b"/>
            <a:pathLst>
              <a:path w="486309" h="564655">
                <a:moveTo>
                  <a:pt x="486310" y="0"/>
                </a:moveTo>
                <a:lnTo>
                  <a:pt x="0" y="0"/>
                </a:lnTo>
                <a:lnTo>
                  <a:pt x="0" y="564655"/>
                </a:lnTo>
                <a:lnTo>
                  <a:pt x="486310" y="564655"/>
                </a:lnTo>
                <a:lnTo>
                  <a:pt x="4863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56645" y="422049"/>
            <a:ext cx="1801852" cy="17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5"/>
              </a:lnSpc>
            </a:pPr>
            <a:r>
              <a:rPr lang="en-US" sz="1053" b="1" dirty="0" err="1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Nền</a:t>
            </a:r>
            <a:r>
              <a:rPr lang="en-US" sz="1053" b="1" dirty="0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tảng</a:t>
            </a:r>
            <a:r>
              <a:rPr lang="en-US" sz="1053" b="1" dirty="0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công</a:t>
            </a:r>
            <a:r>
              <a:rPr lang="en-US" sz="1053" b="1" dirty="0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nghệ</a:t>
            </a:r>
            <a:r>
              <a:rPr lang="en-US" sz="1053" b="1" dirty="0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 </a:t>
            </a:r>
            <a:r>
              <a:rPr lang="en-US" sz="1053" b="1" dirty="0" err="1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số</a:t>
            </a:r>
            <a:endParaRPr lang="en-US" sz="1053" b="1" dirty="0">
              <a:solidFill>
                <a:srgbClr val="FFFFFF"/>
              </a:solidFill>
              <a:latin typeface="Arial" panose="020B0604020202020204" pitchFamily="34" charset="0"/>
              <a:ea typeface="Montserrat Ultra-Bold"/>
              <a:cs typeface="Arial" panose="020B0604020202020204" pitchFamily="34" charset="0"/>
              <a:sym typeface="Montserrat Ultra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6645" y="637169"/>
            <a:ext cx="1801852" cy="31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0"/>
              </a:lnSpc>
              <a:spcBef>
                <a:spcPct val="0"/>
              </a:spcBef>
            </a:pPr>
            <a:r>
              <a:rPr lang="en-US" sz="921" i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Italics"/>
                <a:cs typeface="Times New Roman" panose="02020603050405020304" pitchFamily="18" charset="0"/>
                <a:sym typeface="Montserrat Italics"/>
              </a:rPr>
              <a:t>DigitalTechPlatform</a:t>
            </a:r>
            <a:endParaRPr lang="en-US" sz="921" i="1" dirty="0">
              <a:solidFill>
                <a:srgbClr val="FFFFFF"/>
              </a:solidFill>
              <a:latin typeface="Times New Roman" panose="02020603050405020304" pitchFamily="18" charset="0"/>
              <a:ea typeface="Montserrat Italics"/>
              <a:cs typeface="Times New Roman" panose="02020603050405020304" pitchFamily="18" charset="0"/>
              <a:sym typeface="Montserrat Italics"/>
            </a:endParaRPr>
          </a:p>
          <a:p>
            <a:pPr>
              <a:lnSpc>
                <a:spcPts val="1290"/>
              </a:lnSpc>
              <a:spcBef>
                <a:spcPct val="0"/>
              </a:spcBef>
            </a:pPr>
            <a:endParaRPr lang="en-US" sz="921" i="1" dirty="0">
              <a:solidFill>
                <a:srgbClr val="FFFFFF"/>
              </a:solidFill>
              <a:latin typeface="Times New Roman" panose="02020603050405020304" pitchFamily="18" charset="0"/>
              <a:ea typeface="Montserrat Italics"/>
              <a:cs typeface="Times New Roman" panose="02020603050405020304" pitchFamily="18" charset="0"/>
              <a:sym typeface="Montserrat Italics"/>
            </a:endParaRPr>
          </a:p>
        </p:txBody>
      </p:sp>
      <p:sp>
        <p:nvSpPr>
          <p:cNvPr id="4" name="Freeform 4"/>
          <p:cNvSpPr/>
          <p:nvPr/>
        </p:nvSpPr>
        <p:spPr>
          <a:xfrm rot="-1907389">
            <a:off x="225480" y="2695159"/>
            <a:ext cx="12118728" cy="9094095"/>
          </a:xfrm>
          <a:custGeom>
            <a:avLst/>
            <a:gdLst/>
            <a:ahLst/>
            <a:cxnLst/>
            <a:rect l="l" t="t" r="r" b="b"/>
            <a:pathLst>
              <a:path w="18178092" h="13641143">
                <a:moveTo>
                  <a:pt x="0" y="0"/>
                </a:moveTo>
                <a:lnTo>
                  <a:pt x="18178092" y="0"/>
                </a:lnTo>
                <a:lnTo>
                  <a:pt x="18178092" y="13641144"/>
                </a:lnTo>
                <a:lnTo>
                  <a:pt x="0" y="136411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9AE296-AE4A-4123-8C05-D024FEB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1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3995505">
            <a:off x="-3885537" y="-388095"/>
            <a:ext cx="8499346" cy="7971785"/>
          </a:xfrm>
          <a:custGeom>
            <a:avLst/>
            <a:gdLst/>
            <a:ahLst/>
            <a:cxnLst/>
            <a:rect l="l" t="t" r="r" b="b"/>
            <a:pathLst>
              <a:path w="12749019" h="11957678">
                <a:moveTo>
                  <a:pt x="0" y="0"/>
                </a:moveTo>
                <a:lnTo>
                  <a:pt x="12749019" y="0"/>
                </a:lnTo>
                <a:lnTo>
                  <a:pt x="12749019" y="11957678"/>
                </a:lnTo>
                <a:lnTo>
                  <a:pt x="0" y="11957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98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3762221" y="1765077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5" y="0"/>
                </a:lnTo>
                <a:lnTo>
                  <a:pt x="1264565" y="1264565"/>
                </a:lnTo>
                <a:lnTo>
                  <a:pt x="0" y="126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7912337" y="1765077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4" y="0"/>
                </a:lnTo>
                <a:lnTo>
                  <a:pt x="1264564" y="1264565"/>
                </a:lnTo>
                <a:lnTo>
                  <a:pt x="0" y="126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762221" y="2954145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5" y="0"/>
                </a:lnTo>
                <a:lnTo>
                  <a:pt x="1264565" y="1264565"/>
                </a:lnTo>
                <a:lnTo>
                  <a:pt x="0" y="126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912337" y="2954145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4" y="0"/>
                </a:lnTo>
                <a:lnTo>
                  <a:pt x="1264564" y="1264565"/>
                </a:lnTo>
                <a:lnTo>
                  <a:pt x="0" y="126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4702923" y="2022325"/>
            <a:ext cx="2668967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Giới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thiệu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dự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án</a:t>
            </a:r>
            <a:endParaRPr lang="en-US" sz="2133" b="1" dirty="0">
              <a:solidFill>
                <a:srgbClr val="FFFFFF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066529" y="2022325"/>
            <a:ext cx="2668967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từ</a:t>
            </a:r>
            <a:endParaRPr lang="en-US" sz="2133" b="1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702923" y="3177330"/>
            <a:ext cx="2668967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Mini game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66529" y="3177330"/>
            <a:ext cx="2668967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Oẳn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tù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tì</a:t>
            </a:r>
            <a:endParaRPr lang="en-US" sz="2133" b="1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16320" y="4366399"/>
            <a:ext cx="2668967" cy="33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01"/>
              </a:lnSpc>
            </a:pPr>
            <a:r>
              <a:rPr lang="en-US" sz="2071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Quá</a:t>
            </a:r>
            <a:r>
              <a:rPr lang="en-US" sz="2071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071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trình</a:t>
            </a:r>
            <a:r>
              <a:rPr lang="en-US" sz="2071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071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phát</a:t>
            </a:r>
            <a:r>
              <a:rPr lang="en-US" sz="2071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071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triển</a:t>
            </a:r>
            <a:endParaRPr lang="en-US" sz="2071" b="1" dirty="0">
              <a:solidFill>
                <a:srgbClr val="FFFFFF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66529" y="4366399"/>
            <a:ext cx="2668967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XO 3x3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6387" y="5623435"/>
            <a:ext cx="2898263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số</a:t>
            </a:r>
            <a:endParaRPr lang="en-US" sz="2133" b="1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66529" y="5552342"/>
            <a:ext cx="2668967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Kết</a:t>
            </a:r>
            <a:r>
              <a:rPr lang="en-US" sz="2133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luận</a:t>
            </a:r>
            <a:endParaRPr lang="en-US" sz="2133" b="1" dirty="0">
              <a:solidFill>
                <a:srgbClr val="FFFFFF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975876" y="2026836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Montserrat Ultra-Bold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25991" y="2024008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75876" y="3213078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25991" y="3213078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62221" y="692151"/>
            <a:ext cx="6971799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08"/>
              </a:lnSpc>
            </a:pPr>
            <a:r>
              <a:rPr lang="en-US" sz="4498" b="1" spc="143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Nội</a:t>
            </a:r>
            <a:r>
              <a:rPr lang="en-US" sz="4498" b="1" spc="143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dung </a:t>
            </a:r>
            <a:r>
              <a:rPr lang="en-US" sz="4498" b="1" spc="143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chính</a:t>
            </a:r>
            <a:endParaRPr lang="en-US" sz="4498" b="1" spc="143" dirty="0">
              <a:solidFill>
                <a:srgbClr val="FFFFFF"/>
              </a:solidFill>
              <a:latin typeface="Arial" panose="020B0604020202020204" pitchFamily="34" charset="0"/>
              <a:ea typeface="Montserrat Heavy"/>
              <a:cs typeface="Arial" panose="020B0604020202020204" pitchFamily="34" charset="0"/>
              <a:sym typeface="Montserrat Heavy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3762221" y="4143215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5" y="0"/>
                </a:lnTo>
                <a:lnTo>
                  <a:pt x="1264565" y="1264564"/>
                </a:lnTo>
                <a:lnTo>
                  <a:pt x="0" y="1264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3762221" y="5329157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5" y="0"/>
                </a:lnTo>
                <a:lnTo>
                  <a:pt x="1264565" y="1264565"/>
                </a:lnTo>
                <a:lnTo>
                  <a:pt x="0" y="126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7912337" y="4143215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4" y="0"/>
                </a:lnTo>
                <a:lnTo>
                  <a:pt x="1264564" y="1264564"/>
                </a:lnTo>
                <a:lnTo>
                  <a:pt x="0" y="1264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7912337" y="5329157"/>
            <a:ext cx="843043" cy="843043"/>
          </a:xfrm>
          <a:custGeom>
            <a:avLst/>
            <a:gdLst/>
            <a:ahLst/>
            <a:cxnLst/>
            <a:rect l="l" t="t" r="r" b="b"/>
            <a:pathLst>
              <a:path w="1264565" h="1264565">
                <a:moveTo>
                  <a:pt x="0" y="0"/>
                </a:moveTo>
                <a:lnTo>
                  <a:pt x="1264564" y="0"/>
                </a:lnTo>
                <a:lnTo>
                  <a:pt x="1264564" y="1264565"/>
                </a:lnTo>
                <a:lnTo>
                  <a:pt x="0" y="126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3975876" y="4402146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75876" y="5588090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25991" y="4402146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25991" y="5588090"/>
            <a:ext cx="41573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  <a:spcBef>
                <a:spcPct val="0"/>
              </a:spcBef>
            </a:pPr>
            <a:r>
              <a:rPr lang="en-US" sz="3050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8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9A5C151-7216-480F-9BF4-58441E82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2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750"/>
                            </p:stCondLst>
                            <p:childTnLst>
                              <p:par>
                                <p:cTn id="5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250"/>
                            </p:stCondLst>
                            <p:childTnLst>
                              <p:par>
                                <p:cTn id="6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25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00"/>
                            </p:stCondLst>
                            <p:childTnLst>
                              <p:par>
                                <p:cTn id="8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750"/>
                            </p:stCondLst>
                            <p:childTnLst>
                              <p:par>
                                <p:cTn id="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0"/>
                            </p:stCondLst>
                            <p:childTnLst>
                              <p:par>
                                <p:cTn id="9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250"/>
                            </p:stCondLst>
                            <p:childTnLst>
                              <p:par>
                                <p:cTn id="1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750"/>
                            </p:stCondLst>
                            <p:childTnLst>
                              <p:par>
                                <p:cTn id="1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6250"/>
                            </p:stCondLst>
                            <p:childTnLst>
                              <p:par>
                                <p:cTn id="1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85800" y="1454981"/>
            <a:ext cx="728436" cy="728436"/>
          </a:xfrm>
          <a:custGeom>
            <a:avLst/>
            <a:gdLst/>
            <a:ahLst/>
            <a:cxnLst/>
            <a:rect l="l" t="t" r="r" b="b"/>
            <a:pathLst>
              <a:path w="1092654" h="1092654">
                <a:moveTo>
                  <a:pt x="0" y="0"/>
                </a:moveTo>
                <a:lnTo>
                  <a:pt x="1092654" y="0"/>
                </a:lnTo>
                <a:lnTo>
                  <a:pt x="1092654" y="1092653"/>
                </a:lnTo>
                <a:lnTo>
                  <a:pt x="0" y="1092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883134" y="1631496"/>
            <a:ext cx="333769" cy="375405"/>
          </a:xfrm>
          <a:custGeom>
            <a:avLst/>
            <a:gdLst/>
            <a:ahLst/>
            <a:cxnLst/>
            <a:rect l="l" t="t" r="r" b="b"/>
            <a:pathLst>
              <a:path w="500654" h="563108">
                <a:moveTo>
                  <a:pt x="0" y="0"/>
                </a:moveTo>
                <a:lnTo>
                  <a:pt x="500654" y="0"/>
                </a:lnTo>
                <a:lnTo>
                  <a:pt x="500654" y="563109"/>
                </a:lnTo>
                <a:lnTo>
                  <a:pt x="0" y="56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46297" y="1454981"/>
            <a:ext cx="8656433" cy="728436"/>
            <a:chOff x="0" y="0"/>
            <a:chExt cx="3670363" cy="3088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70363" cy="308858"/>
            </a:xfrm>
            <a:custGeom>
              <a:avLst/>
              <a:gdLst/>
              <a:ahLst/>
              <a:cxnLst/>
              <a:rect l="l" t="t" r="r" b="b"/>
              <a:pathLst>
                <a:path w="3670363" h="308858">
                  <a:moveTo>
                    <a:pt x="3670363" y="30408"/>
                  </a:moveTo>
                  <a:lnTo>
                    <a:pt x="3670363" y="278450"/>
                  </a:lnTo>
                  <a:cubicBezTo>
                    <a:pt x="3670363" y="295244"/>
                    <a:pt x="3656749" y="308858"/>
                    <a:pt x="3639955" y="308858"/>
                  </a:cubicBezTo>
                  <a:lnTo>
                    <a:pt x="30408" y="308858"/>
                  </a:lnTo>
                  <a:cubicBezTo>
                    <a:pt x="22343" y="308858"/>
                    <a:pt x="14609" y="305654"/>
                    <a:pt x="8906" y="299952"/>
                  </a:cubicBezTo>
                  <a:cubicBezTo>
                    <a:pt x="3204" y="294249"/>
                    <a:pt x="0" y="286515"/>
                    <a:pt x="0" y="278450"/>
                  </a:cubicBezTo>
                  <a:lnTo>
                    <a:pt x="0" y="30408"/>
                  </a:lnTo>
                  <a:cubicBezTo>
                    <a:pt x="0" y="13614"/>
                    <a:pt x="13614" y="0"/>
                    <a:pt x="30408" y="0"/>
                  </a:cubicBezTo>
                  <a:lnTo>
                    <a:pt x="3639955" y="0"/>
                  </a:lnTo>
                  <a:cubicBezTo>
                    <a:pt x="3648020" y="0"/>
                    <a:pt x="3655754" y="3204"/>
                    <a:pt x="3661457" y="8906"/>
                  </a:cubicBezTo>
                  <a:cubicBezTo>
                    <a:pt x="3667159" y="14609"/>
                    <a:pt x="3670363" y="22343"/>
                    <a:pt x="3670363" y="30408"/>
                  </a:cubicBezTo>
                  <a:close/>
                </a:path>
              </a:pathLst>
            </a:custGeom>
            <a:gradFill rotWithShape="1">
              <a:gsLst>
                <a:gs pos="0">
                  <a:srgbClr val="CAE1FF">
                    <a:alpha val="26000"/>
                  </a:srgbClr>
                </a:gs>
                <a:gs pos="100000">
                  <a:srgbClr val="476798">
                    <a:alpha val="25675"/>
                  </a:srgbClr>
                </a:gs>
              </a:gsLst>
              <a:lin ang="2700000"/>
            </a:gradFill>
            <a:ln w="19050" cap="rnd">
              <a:solidFill>
                <a:srgbClr val="2B41B5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670363" cy="3564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8"/>
                </a:lnSpc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5801" y="296062"/>
            <a:ext cx="441707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7"/>
              </a:lnSpc>
              <a:spcBef>
                <a:spcPct val="0"/>
              </a:spcBef>
            </a:pPr>
            <a:r>
              <a:rPr lang="en-US" sz="4062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Giới</a:t>
            </a:r>
            <a:r>
              <a:rPr lang="en-US" sz="4062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062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thiệu</a:t>
            </a:r>
            <a:r>
              <a:rPr lang="en-US" sz="4062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062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dự</a:t>
            </a:r>
            <a:r>
              <a:rPr lang="en-US" sz="4062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062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án</a:t>
            </a:r>
            <a:endParaRPr lang="en-US" sz="4062" b="1" dirty="0">
              <a:solidFill>
                <a:srgbClr val="FFFFFF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76967" y="1570808"/>
            <a:ext cx="8195091" cy="44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48"/>
              </a:lnSpc>
              <a:spcBef>
                <a:spcPct val="0"/>
              </a:spcBef>
            </a:pPr>
            <a:r>
              <a:rPr lang="en-US" sz="288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Xây</a:t>
            </a:r>
            <a:r>
              <a:rPr lang="en-US" sz="288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88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dựng</a:t>
            </a:r>
            <a:r>
              <a:rPr lang="en-US" sz="288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4 mini game </a:t>
            </a:r>
            <a:r>
              <a:rPr lang="en-US" sz="288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chạy</a:t>
            </a:r>
            <a:r>
              <a:rPr lang="en-US" sz="288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88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trên</a:t>
            </a:r>
            <a:r>
              <a:rPr lang="en-US" sz="288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88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dòng</a:t>
            </a:r>
            <a:r>
              <a:rPr lang="en-US" sz="288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88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lệnh</a:t>
            </a:r>
            <a:endParaRPr lang="en-US" sz="288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513334" y="2753829"/>
            <a:ext cx="5008790" cy="3672195"/>
            <a:chOff x="0" y="0"/>
            <a:chExt cx="2123748" cy="15570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23748" cy="1557018"/>
            </a:xfrm>
            <a:custGeom>
              <a:avLst/>
              <a:gdLst/>
              <a:ahLst/>
              <a:cxnLst/>
              <a:rect l="l" t="t" r="r" b="b"/>
              <a:pathLst>
                <a:path w="2123748" h="1557018">
                  <a:moveTo>
                    <a:pt x="2123748" y="52553"/>
                  </a:moveTo>
                  <a:lnTo>
                    <a:pt x="2123748" y="1504465"/>
                  </a:lnTo>
                  <a:cubicBezTo>
                    <a:pt x="2123748" y="1533490"/>
                    <a:pt x="2100219" y="1557018"/>
                    <a:pt x="2071195" y="1557018"/>
                  </a:cubicBezTo>
                  <a:lnTo>
                    <a:pt x="52553" y="1557018"/>
                  </a:lnTo>
                  <a:cubicBezTo>
                    <a:pt x="23529" y="1557018"/>
                    <a:pt x="0" y="1533490"/>
                    <a:pt x="0" y="1504465"/>
                  </a:cubicBezTo>
                  <a:lnTo>
                    <a:pt x="0" y="52553"/>
                  </a:lnTo>
                  <a:cubicBezTo>
                    <a:pt x="0" y="23529"/>
                    <a:pt x="23529" y="0"/>
                    <a:pt x="52553" y="0"/>
                  </a:cubicBezTo>
                  <a:lnTo>
                    <a:pt x="2071195" y="0"/>
                  </a:lnTo>
                  <a:cubicBezTo>
                    <a:pt x="2085133" y="0"/>
                    <a:pt x="2098500" y="5537"/>
                    <a:pt x="2108355" y="15392"/>
                  </a:cubicBezTo>
                  <a:cubicBezTo>
                    <a:pt x="2118211" y="25248"/>
                    <a:pt x="2123748" y="38615"/>
                    <a:pt x="2123748" y="52553"/>
                  </a:cubicBezTo>
                  <a:close/>
                </a:path>
              </a:pathLst>
            </a:custGeom>
            <a:gradFill rotWithShape="1">
              <a:gsLst>
                <a:gs pos="0">
                  <a:srgbClr val="CAE1FF">
                    <a:alpha val="26000"/>
                  </a:srgbClr>
                </a:gs>
                <a:gs pos="100000">
                  <a:srgbClr val="476798">
                    <a:alpha val="25675"/>
                  </a:srgbClr>
                </a:gs>
              </a:gsLst>
              <a:lin ang="2700000"/>
            </a:gradFill>
            <a:ln w="19050" cap="rnd">
              <a:solidFill>
                <a:srgbClr val="2B41B5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23748" cy="160464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8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16036" y="2753829"/>
            <a:ext cx="4254577" cy="3672195"/>
            <a:chOff x="0" y="0"/>
            <a:chExt cx="1803958" cy="15570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03958" cy="1557018"/>
            </a:xfrm>
            <a:custGeom>
              <a:avLst/>
              <a:gdLst/>
              <a:ahLst/>
              <a:cxnLst/>
              <a:rect l="l" t="t" r="r" b="b"/>
              <a:pathLst>
                <a:path w="1803958" h="1557018">
                  <a:moveTo>
                    <a:pt x="1803958" y="61869"/>
                  </a:moveTo>
                  <a:lnTo>
                    <a:pt x="1803958" y="1495149"/>
                  </a:lnTo>
                  <a:cubicBezTo>
                    <a:pt x="1803958" y="1511558"/>
                    <a:pt x="1797440" y="1527295"/>
                    <a:pt x="1785837" y="1538897"/>
                  </a:cubicBezTo>
                  <a:cubicBezTo>
                    <a:pt x="1774235" y="1550500"/>
                    <a:pt x="1758498" y="1557018"/>
                    <a:pt x="1742090" y="1557018"/>
                  </a:cubicBezTo>
                  <a:lnTo>
                    <a:pt x="61869" y="1557018"/>
                  </a:lnTo>
                  <a:cubicBezTo>
                    <a:pt x="27700" y="1557018"/>
                    <a:pt x="0" y="1529319"/>
                    <a:pt x="0" y="1495149"/>
                  </a:cubicBezTo>
                  <a:lnTo>
                    <a:pt x="0" y="61869"/>
                  </a:lnTo>
                  <a:cubicBezTo>
                    <a:pt x="0" y="27700"/>
                    <a:pt x="27700" y="0"/>
                    <a:pt x="61869" y="0"/>
                  </a:cubicBezTo>
                  <a:lnTo>
                    <a:pt x="1742090" y="0"/>
                  </a:lnTo>
                  <a:cubicBezTo>
                    <a:pt x="1776259" y="0"/>
                    <a:pt x="1803958" y="27700"/>
                    <a:pt x="1803958" y="61869"/>
                  </a:cubicBezTo>
                  <a:close/>
                </a:path>
              </a:pathLst>
            </a:custGeom>
            <a:gradFill rotWithShape="1">
              <a:gsLst>
                <a:gs pos="0">
                  <a:srgbClr val="CAE1FF">
                    <a:alpha val="26000"/>
                  </a:srgbClr>
                </a:gs>
                <a:gs pos="100000">
                  <a:srgbClr val="476798">
                    <a:alpha val="25675"/>
                  </a:srgbClr>
                </a:gs>
              </a:gsLst>
              <a:lin ang="2700000"/>
            </a:gradFill>
            <a:ln w="19050" cap="rnd">
              <a:solidFill>
                <a:srgbClr val="2B41B5">
                  <a:alpha val="64706"/>
                </a:srgbClr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03958" cy="160464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18"/>
                </a:lnSpc>
              </a:pPr>
              <a:endParaRPr sz="12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620945" y="2753829"/>
            <a:ext cx="792220" cy="792220"/>
          </a:xfrm>
          <a:custGeom>
            <a:avLst/>
            <a:gdLst/>
            <a:ahLst/>
            <a:cxnLst/>
            <a:rect l="l" t="t" r="r" b="b"/>
            <a:pathLst>
              <a:path w="1188330" h="1188330">
                <a:moveTo>
                  <a:pt x="0" y="0"/>
                </a:moveTo>
                <a:lnTo>
                  <a:pt x="1188330" y="0"/>
                </a:lnTo>
                <a:lnTo>
                  <a:pt x="1188330" y="1188330"/>
                </a:lnTo>
                <a:lnTo>
                  <a:pt x="0" y="118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894305" y="2981158"/>
            <a:ext cx="245499" cy="337561"/>
          </a:xfrm>
          <a:custGeom>
            <a:avLst/>
            <a:gdLst/>
            <a:ahLst/>
            <a:cxnLst/>
            <a:rect l="l" t="t" r="r" b="b"/>
            <a:pathLst>
              <a:path w="368249" h="506342">
                <a:moveTo>
                  <a:pt x="0" y="0"/>
                </a:moveTo>
                <a:lnTo>
                  <a:pt x="368249" y="0"/>
                </a:lnTo>
                <a:lnTo>
                  <a:pt x="368249" y="506342"/>
                </a:lnTo>
                <a:lnTo>
                  <a:pt x="0" y="5063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661824" y="2753829"/>
            <a:ext cx="754213" cy="754213"/>
          </a:xfrm>
          <a:custGeom>
            <a:avLst/>
            <a:gdLst/>
            <a:ahLst/>
            <a:cxnLst/>
            <a:rect l="l" t="t" r="r" b="b"/>
            <a:pathLst>
              <a:path w="1131319" h="1131319">
                <a:moveTo>
                  <a:pt x="0" y="0"/>
                </a:moveTo>
                <a:lnTo>
                  <a:pt x="1131319" y="0"/>
                </a:lnTo>
                <a:lnTo>
                  <a:pt x="1131319" y="1131320"/>
                </a:lnTo>
                <a:lnTo>
                  <a:pt x="0" y="1131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6881803" y="2955307"/>
            <a:ext cx="287162" cy="311517"/>
          </a:xfrm>
          <a:custGeom>
            <a:avLst/>
            <a:gdLst/>
            <a:ahLst/>
            <a:cxnLst/>
            <a:rect l="l" t="t" r="r" b="b"/>
            <a:pathLst>
              <a:path w="430743" h="467275">
                <a:moveTo>
                  <a:pt x="0" y="0"/>
                </a:moveTo>
                <a:lnTo>
                  <a:pt x="430743" y="0"/>
                </a:lnTo>
                <a:lnTo>
                  <a:pt x="430743" y="467275"/>
                </a:lnTo>
                <a:lnTo>
                  <a:pt x="0" y="4672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701332" y="2801754"/>
            <a:ext cx="4632794" cy="30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28"/>
              </a:lnSpc>
              <a:spcBef>
                <a:spcPct val="0"/>
              </a:spcBef>
            </a:pPr>
            <a:r>
              <a:rPr lang="en-US" sz="2448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MỤC TIÊU:</a:t>
            </a:r>
          </a:p>
          <a:p>
            <a:pPr algn="just">
              <a:lnSpc>
                <a:spcPts val="3428"/>
              </a:lnSpc>
              <a:spcBef>
                <a:spcPct val="0"/>
              </a:spcBef>
            </a:pPr>
            <a:endParaRPr lang="en-US" sz="2448" b="1" dirty="0">
              <a:solidFill>
                <a:srgbClr val="FFFFFF"/>
              </a:solidFill>
              <a:latin typeface="Times New Roman" panose="02020603050405020304" pitchFamily="18" charset="0"/>
              <a:ea typeface="Montserrat Bold"/>
              <a:cs typeface="Times New Roman" panose="02020603050405020304" pitchFamily="18" charset="0"/>
              <a:sym typeface="Montserrat Bold"/>
            </a:endParaRPr>
          </a:p>
          <a:p>
            <a:pPr algn="just">
              <a:lnSpc>
                <a:spcPts val="3428"/>
              </a:lnSpc>
              <a:spcBef>
                <a:spcPct val="0"/>
              </a:spcBef>
            </a:pP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Rèn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luyện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duy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lập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endParaRPr lang="en-US" sz="2448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just">
              <a:lnSpc>
                <a:spcPts val="3428"/>
              </a:lnSpc>
              <a:spcBef>
                <a:spcPct val="0"/>
              </a:spcBef>
            </a:pPr>
            <a:endParaRPr lang="en-US" sz="2448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just">
              <a:lnSpc>
                <a:spcPts val="3428"/>
              </a:lnSpc>
              <a:spcBef>
                <a:spcPct val="0"/>
              </a:spcBef>
            </a:pP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Áp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dụng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kiến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thức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đã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học</a:t>
            </a:r>
            <a:endParaRPr lang="en-US" sz="2448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just">
              <a:lnSpc>
                <a:spcPts val="3428"/>
              </a:lnSpc>
              <a:spcBef>
                <a:spcPct val="0"/>
              </a:spcBef>
            </a:pPr>
            <a:endParaRPr lang="en-US" sz="2448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just">
              <a:lnSpc>
                <a:spcPts val="3428"/>
              </a:lnSpc>
              <a:spcBef>
                <a:spcPct val="0"/>
              </a:spcBef>
            </a:pP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Nâng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cao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kỹ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năng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giải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quyết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vấn</a:t>
            </a:r>
            <a:r>
              <a:rPr lang="en-US" sz="2448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8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đề</a:t>
            </a:r>
            <a:endParaRPr lang="en-US" sz="2448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701786" y="2849350"/>
            <a:ext cx="3869269" cy="301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25"/>
              </a:lnSpc>
            </a:pPr>
            <a:r>
              <a:rPr lang="en-US" sz="2446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CÔNG NGHỆ:</a:t>
            </a:r>
          </a:p>
          <a:p>
            <a:pPr>
              <a:lnSpc>
                <a:spcPts val="3425"/>
              </a:lnSpc>
            </a:pPr>
            <a:endParaRPr lang="en-US" sz="2446" b="1" dirty="0">
              <a:solidFill>
                <a:srgbClr val="FFFFFF"/>
              </a:solidFill>
              <a:latin typeface="Times New Roman" panose="02020603050405020304" pitchFamily="18" charset="0"/>
              <a:ea typeface="Montserrat Bold"/>
              <a:cs typeface="Times New Roman" panose="02020603050405020304" pitchFamily="18" charset="0"/>
              <a:sym typeface="Montserrat Bold"/>
            </a:endParaRPr>
          </a:p>
          <a:p>
            <a:pPr>
              <a:lnSpc>
                <a:spcPts val="3425"/>
              </a:lnSpc>
              <a:spcBef>
                <a:spcPct val="0"/>
              </a:spcBef>
            </a:pPr>
            <a:r>
              <a:rPr lang="en-US" sz="2446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Ngôn</a:t>
            </a:r>
            <a:r>
              <a:rPr lang="en-US" sz="2446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446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ngữ</a:t>
            </a:r>
            <a:r>
              <a:rPr lang="en-US" sz="2446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C</a:t>
            </a:r>
          </a:p>
          <a:p>
            <a:pPr>
              <a:lnSpc>
                <a:spcPts val="3425"/>
              </a:lnSpc>
              <a:spcBef>
                <a:spcPct val="0"/>
              </a:spcBef>
            </a:pPr>
            <a:endParaRPr lang="en-US" sz="2446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3425"/>
              </a:lnSpc>
              <a:spcBef>
                <a:spcPct val="0"/>
              </a:spcBef>
            </a:pPr>
            <a:r>
              <a:rPr lang="en-US" sz="2446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IDE: Dev-C++</a:t>
            </a:r>
          </a:p>
          <a:p>
            <a:pPr>
              <a:lnSpc>
                <a:spcPts val="3425"/>
              </a:lnSpc>
              <a:spcBef>
                <a:spcPct val="0"/>
              </a:spcBef>
            </a:pPr>
            <a:endParaRPr lang="en-US" sz="2446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3425"/>
              </a:lnSpc>
              <a:spcBef>
                <a:spcPct val="0"/>
              </a:spcBef>
            </a:pPr>
            <a:r>
              <a:rPr lang="en-US" sz="2446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AI: </a:t>
            </a:r>
            <a:r>
              <a:rPr lang="en-US" sz="2446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ChatGPT</a:t>
            </a:r>
            <a:r>
              <a:rPr lang="en-US" sz="2446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GitHub Copilot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D36FE9D-F357-4340-828D-00FDC4C2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3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66312" y="1601728"/>
            <a:ext cx="3654545" cy="3654545"/>
          </a:xfrm>
          <a:custGeom>
            <a:avLst/>
            <a:gdLst/>
            <a:ahLst/>
            <a:cxnLst/>
            <a:rect l="l" t="t" r="r" b="b"/>
            <a:pathLst>
              <a:path w="5481817" h="5481817">
                <a:moveTo>
                  <a:pt x="0" y="0"/>
                </a:moveTo>
                <a:lnTo>
                  <a:pt x="5481817" y="0"/>
                </a:lnTo>
                <a:lnTo>
                  <a:pt x="5481817" y="5481818"/>
                </a:lnTo>
                <a:lnTo>
                  <a:pt x="0" y="5481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280872" y="2616792"/>
            <a:ext cx="2225425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5"/>
              </a:lnSpc>
            </a:pPr>
            <a:r>
              <a:rPr lang="en-US" sz="5371" b="1" spc="-107" dirty="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Mini game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02961" y="1327670"/>
            <a:ext cx="2792063" cy="66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  <a:spcBef>
                <a:spcPct val="0"/>
              </a:spcBef>
            </a:pP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Đoán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số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15415" y="2108705"/>
            <a:ext cx="3019927" cy="68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số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ngẫu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nhiên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do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tạo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07766" y="1327670"/>
            <a:ext cx="2792063" cy="66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  <a:spcBef>
                <a:spcPct val="0"/>
              </a:spcBef>
            </a:pP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Đoán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từ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79902" y="2108705"/>
            <a:ext cx="3019927" cy="68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từ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dựa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trên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hoặc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ký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tự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34779" y="3943130"/>
            <a:ext cx="2792063" cy="66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  <a:spcBef>
                <a:spcPct val="0"/>
              </a:spcBef>
            </a:pP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Oẳn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tù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  <a:r>
              <a:rPr lang="en-US" sz="4328" b="1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tì</a:t>
            </a:r>
            <a:r>
              <a:rPr lang="en-US" sz="4328" b="1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75096" y="4787380"/>
            <a:ext cx="3019927" cy="68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đấu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với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kéo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búa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bao)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3722" y="3943130"/>
            <a:ext cx="3452288" cy="66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  <a:spcBef>
                <a:spcPct val="0"/>
              </a:spcBef>
            </a:pPr>
            <a:r>
              <a:rPr lang="en-US" sz="4328" b="1" dirty="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XO 3x3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39584" y="4787380"/>
            <a:ext cx="3019927" cy="68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Trò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X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O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giữa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732E0D1-DC37-47D7-9476-2E287262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4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120276" y="1100780"/>
            <a:ext cx="5951713" cy="1439085"/>
            <a:chOff x="0" y="0"/>
            <a:chExt cx="2295843" cy="5551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5843" cy="555120"/>
            </a:xfrm>
            <a:custGeom>
              <a:avLst/>
              <a:gdLst/>
              <a:ahLst/>
              <a:cxnLst/>
              <a:rect l="l" t="t" r="r" b="b"/>
              <a:pathLst>
                <a:path w="2295843" h="555120">
                  <a:moveTo>
                    <a:pt x="86719" y="0"/>
                  </a:moveTo>
                  <a:lnTo>
                    <a:pt x="2209123" y="0"/>
                  </a:lnTo>
                  <a:cubicBezTo>
                    <a:pt x="2232123" y="0"/>
                    <a:pt x="2254180" y="9136"/>
                    <a:pt x="2270443" y="25399"/>
                  </a:cubicBezTo>
                  <a:cubicBezTo>
                    <a:pt x="2286706" y="41662"/>
                    <a:pt x="2295843" y="63720"/>
                    <a:pt x="2295843" y="86719"/>
                  </a:cubicBezTo>
                  <a:lnTo>
                    <a:pt x="2295843" y="468401"/>
                  </a:lnTo>
                  <a:cubicBezTo>
                    <a:pt x="2295843" y="516294"/>
                    <a:pt x="2257017" y="555120"/>
                    <a:pt x="2209123" y="555120"/>
                  </a:cubicBezTo>
                  <a:lnTo>
                    <a:pt x="86719" y="555120"/>
                  </a:lnTo>
                  <a:cubicBezTo>
                    <a:pt x="38826" y="555120"/>
                    <a:pt x="0" y="516294"/>
                    <a:pt x="0" y="468401"/>
                  </a:cubicBezTo>
                  <a:lnTo>
                    <a:pt x="0" y="86719"/>
                  </a:lnTo>
                  <a:cubicBezTo>
                    <a:pt x="0" y="38826"/>
                    <a:pt x="38826" y="0"/>
                    <a:pt x="867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AE1FF">
                    <a:alpha val="20400"/>
                  </a:srgbClr>
                </a:gs>
                <a:gs pos="100000">
                  <a:srgbClr val="476798">
                    <a:alpha val="20145"/>
                  </a:srgbClr>
                </a:gs>
              </a:gsLst>
              <a:lin ang="2700000"/>
            </a:gradFill>
            <a:ln w="28575" cap="rnd">
              <a:solidFill>
                <a:srgbClr val="FFFFFF">
                  <a:alpha val="50980"/>
                </a:srgbClr>
              </a:solidFill>
              <a:prstDash val="lgDash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295843" cy="60274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08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35442" y="1398055"/>
            <a:ext cx="5951713" cy="66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5"/>
              </a:lnSpc>
            </a:pPr>
            <a:r>
              <a:rPr lang="en-US" sz="4096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Quá</a:t>
            </a:r>
            <a:r>
              <a:rPr lang="en-US" sz="4096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096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trình</a:t>
            </a:r>
            <a:r>
              <a:rPr lang="en-US" sz="4096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096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phát</a:t>
            </a:r>
            <a:r>
              <a:rPr lang="en-US" sz="4096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096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triển</a:t>
            </a:r>
            <a:endParaRPr lang="en-US" sz="4096" b="1" dirty="0">
              <a:solidFill>
                <a:srgbClr val="FFFFFF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</p:txBody>
      </p:sp>
      <p:sp>
        <p:nvSpPr>
          <p:cNvPr id="7" name="AutoShape 7"/>
          <p:cNvSpPr/>
          <p:nvPr/>
        </p:nvSpPr>
        <p:spPr>
          <a:xfrm flipH="1">
            <a:off x="1350463" y="1792767"/>
            <a:ext cx="1784979" cy="1662625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285966" y="3406364"/>
            <a:ext cx="128995" cy="12899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7541" tIns="57541" rIns="57541" bIns="57541" rtlCol="0" anchor="ctr"/>
            <a:lstStyle/>
            <a:p>
              <a:pPr algn="ctr">
                <a:lnSpc>
                  <a:spcPts val="69"/>
                </a:lnSpc>
              </a:pPr>
              <a:endParaRPr sz="1200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3683140" y="2530249"/>
            <a:ext cx="0" cy="925143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3618643" y="3406364"/>
            <a:ext cx="128995" cy="12899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7541" tIns="57541" rIns="57541" bIns="57541" rtlCol="0" anchor="ctr"/>
            <a:lstStyle/>
            <a:p>
              <a:pPr algn="ctr">
                <a:lnSpc>
                  <a:spcPts val="69"/>
                </a:lnSpc>
              </a:pPr>
              <a:endParaRPr sz="120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3213418" y="3662516"/>
            <a:ext cx="939446" cy="939446"/>
          </a:xfrm>
          <a:custGeom>
            <a:avLst/>
            <a:gdLst/>
            <a:ahLst/>
            <a:cxnLst/>
            <a:rect l="l" t="t" r="r" b="b"/>
            <a:pathLst>
              <a:path w="1409169" h="1409169">
                <a:moveTo>
                  <a:pt x="0" y="0"/>
                </a:moveTo>
                <a:lnTo>
                  <a:pt x="1409169" y="0"/>
                </a:lnTo>
                <a:lnTo>
                  <a:pt x="1409169" y="1409169"/>
                </a:lnTo>
                <a:lnTo>
                  <a:pt x="0" y="140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AutoShape 16"/>
          <p:cNvSpPr/>
          <p:nvPr/>
        </p:nvSpPr>
        <p:spPr>
          <a:xfrm>
            <a:off x="9087156" y="1792767"/>
            <a:ext cx="1736553" cy="1695635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0759211" y="3438079"/>
            <a:ext cx="128995" cy="12899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71"/>
                </a:lnSpc>
              </a:pPr>
              <a:endParaRPr sz="1200"/>
            </a:p>
          </p:txBody>
        </p:sp>
      </p:grpSp>
      <p:sp>
        <p:nvSpPr>
          <p:cNvPr id="20" name="Freeform 20"/>
          <p:cNvSpPr/>
          <p:nvPr/>
        </p:nvSpPr>
        <p:spPr>
          <a:xfrm>
            <a:off x="5626410" y="3662516"/>
            <a:ext cx="939446" cy="939446"/>
          </a:xfrm>
          <a:custGeom>
            <a:avLst/>
            <a:gdLst/>
            <a:ahLst/>
            <a:cxnLst/>
            <a:rect l="l" t="t" r="r" b="b"/>
            <a:pathLst>
              <a:path w="1409169" h="1409169">
                <a:moveTo>
                  <a:pt x="0" y="0"/>
                </a:moveTo>
                <a:lnTo>
                  <a:pt x="1409169" y="0"/>
                </a:lnTo>
                <a:lnTo>
                  <a:pt x="1409169" y="1409169"/>
                </a:lnTo>
                <a:lnTo>
                  <a:pt x="0" y="140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AutoShape 21"/>
          <p:cNvSpPr/>
          <p:nvPr/>
        </p:nvSpPr>
        <p:spPr>
          <a:xfrm>
            <a:off x="6096132" y="2530249"/>
            <a:ext cx="0" cy="925143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6031635" y="3406364"/>
            <a:ext cx="128995" cy="12899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7541" tIns="57541" rIns="57541" bIns="57541" rtlCol="0" anchor="ctr"/>
            <a:lstStyle/>
            <a:p>
              <a:pPr algn="ctr">
                <a:lnSpc>
                  <a:spcPts val="69"/>
                </a:lnSpc>
              </a:pPr>
              <a:endParaRPr sz="1200"/>
            </a:p>
          </p:txBody>
        </p:sp>
      </p:grpSp>
      <p:sp>
        <p:nvSpPr>
          <p:cNvPr id="25" name="AutoShape 25"/>
          <p:cNvSpPr/>
          <p:nvPr/>
        </p:nvSpPr>
        <p:spPr>
          <a:xfrm>
            <a:off x="8624829" y="2530249"/>
            <a:ext cx="0" cy="925143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8560333" y="3406364"/>
            <a:ext cx="128995" cy="12899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7541" tIns="57541" rIns="57541" bIns="57541" rtlCol="0" anchor="ctr"/>
            <a:lstStyle/>
            <a:p>
              <a:pPr algn="ctr">
                <a:lnSpc>
                  <a:spcPts val="69"/>
                </a:lnSpc>
              </a:pPr>
              <a:endParaRPr sz="1200"/>
            </a:p>
          </p:txBody>
        </p:sp>
      </p:grpSp>
      <p:sp>
        <p:nvSpPr>
          <p:cNvPr id="29" name="Freeform 29"/>
          <p:cNvSpPr/>
          <p:nvPr/>
        </p:nvSpPr>
        <p:spPr>
          <a:xfrm>
            <a:off x="10381908" y="3672132"/>
            <a:ext cx="939446" cy="939446"/>
          </a:xfrm>
          <a:custGeom>
            <a:avLst/>
            <a:gdLst/>
            <a:ahLst/>
            <a:cxnLst/>
            <a:rect l="l" t="t" r="r" b="b"/>
            <a:pathLst>
              <a:path w="1409169" h="1409169">
                <a:moveTo>
                  <a:pt x="0" y="0"/>
                </a:moveTo>
                <a:lnTo>
                  <a:pt x="1409169" y="0"/>
                </a:lnTo>
                <a:lnTo>
                  <a:pt x="1409169" y="1409169"/>
                </a:lnTo>
                <a:lnTo>
                  <a:pt x="0" y="140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870646" y="3662516"/>
            <a:ext cx="939446" cy="939446"/>
          </a:xfrm>
          <a:custGeom>
            <a:avLst/>
            <a:gdLst/>
            <a:ahLst/>
            <a:cxnLst/>
            <a:rect l="l" t="t" r="r" b="b"/>
            <a:pathLst>
              <a:path w="1409169" h="1409169">
                <a:moveTo>
                  <a:pt x="0" y="0"/>
                </a:moveTo>
                <a:lnTo>
                  <a:pt x="1409169" y="0"/>
                </a:lnTo>
                <a:lnTo>
                  <a:pt x="1409169" y="1409169"/>
                </a:lnTo>
                <a:lnTo>
                  <a:pt x="0" y="140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8155107" y="3691195"/>
            <a:ext cx="939446" cy="939446"/>
          </a:xfrm>
          <a:custGeom>
            <a:avLst/>
            <a:gdLst/>
            <a:ahLst/>
            <a:cxnLst/>
            <a:rect l="l" t="t" r="r" b="b"/>
            <a:pathLst>
              <a:path w="1409169" h="1409169">
                <a:moveTo>
                  <a:pt x="0" y="0"/>
                </a:moveTo>
                <a:lnTo>
                  <a:pt x="1409169" y="0"/>
                </a:lnTo>
                <a:lnTo>
                  <a:pt x="1409169" y="1409169"/>
                </a:lnTo>
                <a:lnTo>
                  <a:pt x="0" y="1409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TextBox 32"/>
          <p:cNvSpPr txBox="1"/>
          <p:nvPr/>
        </p:nvSpPr>
        <p:spPr>
          <a:xfrm>
            <a:off x="2918896" y="4778320"/>
            <a:ext cx="1528488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Nghiên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cứu</a:t>
            </a:r>
            <a:endParaRPr lang="en-US" sz="1884" b="1" spc="7" dirty="0">
              <a:solidFill>
                <a:srgbClr val="FFFFFF"/>
              </a:solidFill>
              <a:latin typeface="Times New Roman" panose="02020603050405020304" pitchFamily="18" charset="0"/>
              <a:ea typeface="Montserrat Ultra-Bold"/>
              <a:cs typeface="Times New Roman" panose="02020603050405020304" pitchFamily="18" charset="0"/>
              <a:sym typeface="Montserrat Ultra-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429537" y="4778320"/>
            <a:ext cx="1333191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Viết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code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98081" y="4778320"/>
            <a:ext cx="1653498" cy="97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Tính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năng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qua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các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lần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phát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triển</a:t>
            </a:r>
            <a:endParaRPr lang="en-US" sz="1884" b="1" spc="7" dirty="0">
              <a:solidFill>
                <a:srgbClr val="FFFFFF"/>
              </a:solidFill>
              <a:latin typeface="Times New Roman" panose="02020603050405020304" pitchFamily="18" charset="0"/>
              <a:ea typeface="Montserrat Ultra-Bold"/>
              <a:cs typeface="Times New Roman" panose="02020603050405020304" pitchFamily="18" charset="0"/>
              <a:sym typeface="Montserrat Ultra-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197062" y="4787936"/>
            <a:ext cx="1309138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Hoàn</a:t>
            </a:r>
            <a:r>
              <a:rPr lang="en-US" sz="1884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</a:t>
            </a:r>
            <a:r>
              <a:rPr lang="en-US" sz="1884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thiện</a:t>
            </a:r>
            <a:endParaRPr lang="en-US" sz="1884" b="1" spc="7" dirty="0">
              <a:solidFill>
                <a:srgbClr val="FFFFFF"/>
              </a:solidFill>
              <a:latin typeface="Times New Roman" panose="02020603050405020304" pitchFamily="18" charset="0"/>
              <a:ea typeface="Montserrat Ultra-Bold"/>
              <a:cs typeface="Times New Roman" panose="02020603050405020304" pitchFamily="18" charset="0"/>
              <a:sym typeface="Montserrat Ultra-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85800" y="4778320"/>
            <a:ext cx="1309138" cy="30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1885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Lên</a:t>
            </a:r>
            <a:r>
              <a:rPr lang="en-US" sz="1885" b="1" spc="7" dirty="0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 ý </a:t>
            </a:r>
            <a:r>
              <a:rPr lang="en-US" sz="1885" b="1" spc="7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tưởng</a:t>
            </a:r>
            <a:endParaRPr lang="en-US" sz="1885" b="1" spc="7" dirty="0">
              <a:solidFill>
                <a:srgbClr val="FFFFFF"/>
              </a:solidFill>
              <a:latin typeface="Times New Roman" panose="02020603050405020304" pitchFamily="18" charset="0"/>
              <a:ea typeface="Montserrat Ultra-Bold"/>
              <a:cs typeface="Times New Roman" panose="02020603050405020304" pitchFamily="18" charset="0"/>
              <a:sym typeface="Montserrat Ultra-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53125" y="3908153"/>
            <a:ext cx="37448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927" b="1" spc="93" dirty="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95896" y="3908153"/>
            <a:ext cx="37448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927" b="1" spc="93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909392" y="3908153"/>
            <a:ext cx="37448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927" b="1" spc="93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64387" y="3917769"/>
            <a:ext cx="37448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927" b="1" spc="93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40618" y="3936831"/>
            <a:ext cx="37448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</a:pPr>
            <a:r>
              <a:rPr lang="en-US" sz="2927" b="1" spc="93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4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4378DC60-6F2C-45A5-94A8-DA11191C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5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2994" y="545478"/>
            <a:ext cx="1981971" cy="1981963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49607" y="344151"/>
            <a:ext cx="8169399" cy="146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66"/>
              </a:lnSpc>
            </a:pP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Quá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trình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phát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triển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Lên</a:t>
            </a:r>
            <a:r>
              <a:rPr lang="en-US" sz="1999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 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ý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tưởng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game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số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thiết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logic (random + so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sánh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</a:t>
            </a: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Viết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code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chức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năng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cơ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test &amp;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Bổ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sung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tính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năng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độ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khó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gợi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ý)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tối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ưu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hoàn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4906" y="4330559"/>
            <a:ext cx="2863807" cy="58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7"/>
              </a:lnSpc>
            </a:pP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số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ngẫu</a:t>
            </a:r>
            <a:endParaRPr lang="en-US" sz="17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427"/>
              </a:lnSpc>
            </a:pP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nhiên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do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tạo</a:t>
            </a:r>
            <a:endParaRPr lang="en-US" sz="17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49607" y="2825942"/>
            <a:ext cx="8169399" cy="182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66"/>
              </a:lnSpc>
            </a:pP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Tính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năng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qua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phiên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bản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1: Random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số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(rand),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đúng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sai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2: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“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lớn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hơn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/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hơn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”,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lại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Chọn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độ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khó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(0–50, 0–100, 0–500),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đếm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số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4: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bằng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vòng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lặp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xóa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màn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hình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(system("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cls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")), in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giao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diện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49607" y="5307734"/>
            <a:ext cx="8169399" cy="763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Cách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sử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dụng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công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cụ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AI:</a:t>
            </a:r>
          </a:p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ý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tưởng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tối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ưu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chương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4906" y="2549717"/>
            <a:ext cx="2325907" cy="15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86"/>
              </a:lnSpc>
            </a:pP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Đoán</a:t>
            </a:r>
            <a:r>
              <a:rPr lang="en-US" sz="4163" dirty="0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 </a:t>
            </a:r>
          </a:p>
          <a:p>
            <a:pPr>
              <a:lnSpc>
                <a:spcPts val="6286"/>
              </a:lnSpc>
            </a:pP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số</a:t>
            </a:r>
            <a:endParaRPr lang="en-US" sz="4163" dirty="0">
              <a:solidFill>
                <a:srgbClr val="FFFFFF"/>
              </a:solidFill>
              <a:latin typeface="Arial" panose="020B0604020202020204" pitchFamily="34" charset="0"/>
              <a:ea typeface="Paytone One"/>
              <a:cs typeface="Arial" panose="020B0604020202020204" pitchFamily="34" charset="0"/>
              <a:sym typeface="Paytone One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6E5585-85BD-4E4A-9C50-6473B1D8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6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7" grpId="0" build="allAtOnce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04905" y="510604"/>
            <a:ext cx="1981971" cy="1981963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49607" y="344150"/>
            <a:ext cx="8169399" cy="182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66"/>
              </a:lnSpc>
            </a:pP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Quá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trình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phát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triển</a:t>
            </a:r>
            <a:r>
              <a:rPr lang="en-US" sz="2333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Lên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tưởng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random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từ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theo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nhóm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trái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cây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động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vật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màu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sắc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</a:t>
            </a: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Viết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code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hiển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thị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“_”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xử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lý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ký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tự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Test &amp;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thêm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thông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báo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đúng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/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sai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Bổ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sung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lại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xóa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màn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hình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hoàn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4906" y="4330559"/>
            <a:ext cx="2863807" cy="58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7"/>
              </a:lnSpc>
            </a:pP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Đoán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từ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dựa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trên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gợi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hoặc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ký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tự</a:t>
            </a:r>
            <a:endParaRPr lang="en-US" sz="17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49607" y="5307734"/>
            <a:ext cx="8169399" cy="7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Cách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sử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dụng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công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cụ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AI:</a:t>
            </a:r>
          </a:p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Hỗ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trợ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đề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xuất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tưởng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phát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hiện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tối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ưu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chương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04905" y="2527441"/>
            <a:ext cx="2325907" cy="15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86"/>
              </a:lnSpc>
            </a:pP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Đoán</a:t>
            </a:r>
            <a:r>
              <a:rPr lang="en-US" sz="4163" dirty="0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 </a:t>
            </a:r>
          </a:p>
          <a:p>
            <a:pPr>
              <a:lnSpc>
                <a:spcPts val="6286"/>
              </a:lnSpc>
            </a:pP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từ</a:t>
            </a:r>
            <a:endParaRPr lang="en-US" sz="4163" dirty="0">
              <a:solidFill>
                <a:srgbClr val="FFFFFF"/>
              </a:solidFill>
              <a:latin typeface="Arial" panose="020B0604020202020204" pitchFamily="34" charset="0"/>
              <a:ea typeface="Paytone One"/>
              <a:cs typeface="Arial" panose="020B0604020202020204" pitchFamily="34" charset="0"/>
              <a:sym typeface="Paytone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398955" y="2822222"/>
            <a:ext cx="7320051" cy="182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66"/>
              </a:lnSpc>
            </a:pP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Tính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năng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qua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phiên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bản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1: Random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từ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hiển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thị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dấu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“_”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2: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ký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tự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cập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từ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theo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nhóm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thông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báo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đúng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/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sai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4: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xóa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màn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hình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giao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diện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6DB02B-8B67-4C38-86C4-C7D48133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7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7" grpId="0"/>
      <p:bldP spid="8" grpId="0"/>
      <p:bldP spid="9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04905" y="510604"/>
            <a:ext cx="1981971" cy="1981963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49607" y="344150"/>
            <a:ext cx="8169399" cy="218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Quá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trình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phát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triển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>
              <a:lnSpc>
                <a:spcPts val="2799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Lên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tưởng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game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kéo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búa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bao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giữa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Thiết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logic: random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lựa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chọn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so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sánh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thua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Viết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code: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lựa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chọn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xử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quả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Test &amp;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các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trường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hợp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Bổ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sung: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thêm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chuỗi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hỏi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hoàn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4906" y="4330559"/>
            <a:ext cx="2863807" cy="5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27"/>
              </a:lnSpc>
            </a:pP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đấu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với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kéo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búa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bao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49607" y="5307734"/>
            <a:ext cx="8169399" cy="7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Cách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99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sử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99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dụng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99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công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99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cụ</a:t>
            </a: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AI:</a:t>
            </a:r>
          </a:p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Hỗ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trợ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cải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chất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lượng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chương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04905" y="2527441"/>
            <a:ext cx="2325907" cy="153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628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Oẳn</a:t>
            </a:r>
            <a:endParaRPr lang="en-US" sz="4163" dirty="0">
              <a:solidFill>
                <a:srgbClr val="FFFFFF"/>
              </a:solidFill>
              <a:latin typeface="Arial" panose="020B0604020202020204" pitchFamily="34" charset="0"/>
              <a:ea typeface="Paytone One"/>
              <a:cs typeface="Arial" panose="020B0604020202020204" pitchFamily="34" charset="0"/>
              <a:sym typeface="Paytone One"/>
            </a:endParaRPr>
          </a:p>
          <a:p>
            <a:pPr marL="0" marR="0" lvl="0" indent="0" algn="l" defTabSz="457200" rtl="0" eaLnBrk="1" fontAlgn="auto" latinLnBrk="0" hangingPunct="1">
              <a:lnSpc>
                <a:spcPts val="628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tù</a:t>
            </a:r>
            <a:r>
              <a:rPr lang="en-US" sz="4163" dirty="0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 </a:t>
            </a:r>
            <a:r>
              <a:rPr lang="en-US" sz="4163" dirty="0" err="1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tì</a:t>
            </a:r>
            <a:endParaRPr kumimoji="0" lang="en-US" sz="416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Paytone One"/>
              <a:cs typeface="Arial" panose="020B0604020202020204" pitchFamily="34" charset="0"/>
              <a:sym typeface="Paytone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398955" y="2822222"/>
            <a:ext cx="7320051" cy="182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ts val="3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Tính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năng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qua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phiên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kumimoji="0" lang="en-US" sz="2333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bản</a:t>
            </a:r>
            <a:r>
              <a:rPr kumimoji="0" lang="en-US" sz="2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1: Random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lựa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chọn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máy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thua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2: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Hiển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thị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quả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thua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hòa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Thêm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chuỗi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(streak)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4: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Hỏi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lại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tiếp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tục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hoặc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thúc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game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6DB02B-8B67-4C38-86C4-C7D48133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289C9-9F42-478C-BEBB-E729C7FCF667}" type="slidenum">
              <a:rPr kumimoji="0" lang="vi-VN" sz="1400" b="1" i="0" u="sng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vi-VN" sz="14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58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charRg st="2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charRg st="2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charRg st="2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7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charRg st="75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charRg st="7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charRg st="7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31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charRg st="131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charRg st="131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charRg st="131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71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charRg st="171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charRg st="171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charRg st="171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11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charRg st="211" end="2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charRg st="211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charRg st="211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2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charRg st="2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77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charRg st="77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1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charRg st="118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51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charRg st="151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7" grpId="0"/>
      <p:bldP spid="8" grpId="0"/>
      <p:bldP spid="9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04905" y="510604"/>
            <a:ext cx="1981971" cy="1981963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49607" y="344150"/>
            <a:ext cx="8169399" cy="218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66"/>
              </a:lnSpc>
            </a:pP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Quá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trình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phát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triển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Lên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ý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tưởng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game X-O 2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trên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3x3</a:t>
            </a: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Thiết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kế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logic: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hàng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cột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chéo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hòa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Viết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code: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tọa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độ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cập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nhật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bảng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Test &amp;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: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sai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ô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đã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đánh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>
              <a:lnSpc>
                <a:spcPts val="2799"/>
              </a:lnSpc>
            </a:pP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Bổ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sung: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hòa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in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bảng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→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hoàn</a:t>
            </a:r>
            <a:r>
              <a:rPr lang="en-US" sz="1999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999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thiện</a:t>
            </a:r>
            <a:endParaRPr lang="en-US" sz="1999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4906" y="4330559"/>
            <a:ext cx="2863807" cy="58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7"/>
              </a:lnSpc>
            </a:pP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Trò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X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O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giữa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người</a:t>
            </a:r>
            <a:r>
              <a:rPr lang="en-US" sz="17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chơi</a:t>
            </a:r>
            <a:endParaRPr lang="en-US" sz="17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49607" y="5307734"/>
            <a:ext cx="8169399" cy="763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Cách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sử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dụng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công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cụ</a:t>
            </a:r>
            <a:r>
              <a:rPr lang="en-US" sz="2399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AI:</a:t>
            </a:r>
          </a:p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Sửa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logic,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tối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ưu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hiệu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suất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cấu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trúc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4906" y="2549717"/>
            <a:ext cx="2325907" cy="15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86"/>
              </a:lnSpc>
            </a:pPr>
            <a:r>
              <a:rPr lang="en-US" sz="4163" dirty="0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XO</a:t>
            </a:r>
          </a:p>
          <a:p>
            <a:pPr>
              <a:lnSpc>
                <a:spcPts val="6286"/>
              </a:lnSpc>
            </a:pPr>
            <a:r>
              <a:rPr lang="en-US" sz="4163" dirty="0">
                <a:solidFill>
                  <a:srgbClr val="FFFFFF"/>
                </a:solidFill>
                <a:latin typeface="Arial" panose="020B0604020202020204" pitchFamily="34" charset="0"/>
                <a:ea typeface="Paytone One"/>
                <a:cs typeface="Arial" panose="020B0604020202020204" pitchFamily="34" charset="0"/>
                <a:sym typeface="Paytone One"/>
              </a:rPr>
              <a:t>3x3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98955" y="2822222"/>
            <a:ext cx="7320051" cy="182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66"/>
              </a:lnSpc>
            </a:pP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Tính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năng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qua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các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phiên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2333" b="1" dirty="0" err="1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bản</a:t>
            </a:r>
            <a:r>
              <a:rPr lang="en-US" sz="2333" b="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1: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Tạo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3x3,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tọa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độ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2: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Hiển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thị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sau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mỗi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lượt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3: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thắng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(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hàng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cột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đường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chéo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</a:t>
            </a:r>
          </a:p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Lần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4: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Kiểm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hòa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xử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nhập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sai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ô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đã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đánh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8FA00F-8910-49FB-8E14-482E0A2E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9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7" grpId="0"/>
      <p:bldP spid="8" grpId="0"/>
      <p:bldP spid="9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695556" flipH="1" flipV="1">
            <a:off x="-3136912" y="-7444864"/>
            <a:ext cx="16017327" cy="12019669"/>
          </a:xfrm>
          <a:custGeom>
            <a:avLst/>
            <a:gdLst/>
            <a:ahLst/>
            <a:cxnLst/>
            <a:rect l="l" t="t" r="r" b="b"/>
            <a:pathLst>
              <a:path w="24025991" h="18029504">
                <a:moveTo>
                  <a:pt x="24025991" y="18029504"/>
                </a:moveTo>
                <a:lnTo>
                  <a:pt x="0" y="18029504"/>
                </a:lnTo>
                <a:lnTo>
                  <a:pt x="0" y="0"/>
                </a:lnTo>
                <a:lnTo>
                  <a:pt x="24025991" y="0"/>
                </a:lnTo>
                <a:lnTo>
                  <a:pt x="24025991" y="1802950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49496" y="2065489"/>
            <a:ext cx="4293010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1"/>
              </a:lnSpc>
            </a:pPr>
            <a:r>
              <a:rPr lang="en-US" sz="3950" b="1" spc="126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Kết</a:t>
            </a:r>
            <a:r>
              <a:rPr lang="en-US" sz="3950" b="1" spc="126" dirty="0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 </a:t>
            </a:r>
            <a:r>
              <a:rPr lang="en-US" sz="3950" b="1" spc="126" dirty="0" err="1">
                <a:solidFill>
                  <a:srgbClr val="FFFFFF"/>
                </a:solidFill>
                <a:latin typeface="Arial" panose="020B0604020202020204" pitchFamily="34" charset="0"/>
                <a:ea typeface="Montserrat Heavy"/>
                <a:cs typeface="Arial" panose="020B0604020202020204" pitchFamily="34" charset="0"/>
                <a:sym typeface="Montserrat Heavy"/>
              </a:rPr>
              <a:t>luận</a:t>
            </a:r>
            <a:endParaRPr lang="en-US" sz="3950" b="1" spc="126" dirty="0">
              <a:solidFill>
                <a:srgbClr val="FFFFFF"/>
              </a:solidFill>
              <a:latin typeface="Arial" panose="020B0604020202020204" pitchFamily="34" charset="0"/>
              <a:ea typeface="Montserrat Heavy"/>
              <a:cs typeface="Arial" panose="020B0604020202020204" pitchFamily="34" charset="0"/>
              <a:sym typeface="Montserrat Heav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57571" y="3123894"/>
            <a:ext cx="8076859" cy="238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</a:pP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Phát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triển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thành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công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4 mini game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cơ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bản</a:t>
            </a:r>
            <a:endParaRPr lang="en-US" sz="23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ctr">
              <a:lnSpc>
                <a:spcPts val="3827"/>
              </a:lnSpc>
            </a:pP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Áp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dụng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kiến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thức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lập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vào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thực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tế</a:t>
            </a:r>
            <a:endParaRPr lang="en-US" sz="23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ctr">
              <a:lnSpc>
                <a:spcPts val="3827"/>
              </a:lnSpc>
            </a:pP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Áp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dụng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AI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để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hỗ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trợ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tối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ưu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chương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endParaRPr lang="en-US" sz="23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ctr">
              <a:lnSpc>
                <a:spcPts val="3827"/>
              </a:lnSpc>
            </a:pP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Rèn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luyện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duy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logic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kỹ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năng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lập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trình</a:t>
            </a:r>
            <a:endParaRPr lang="en-US" sz="23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algn="ctr">
              <a:lnSpc>
                <a:spcPts val="3827"/>
              </a:lnSpc>
            </a:pP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Có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thể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tiếp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tục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mở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rộng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và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nâng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cấp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trong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tương</a:t>
            </a:r>
            <a:r>
              <a:rPr lang="en-US" sz="2333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2333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lai</a:t>
            </a:r>
            <a:endParaRPr lang="en-US" sz="2333" dirty="0">
              <a:solidFill>
                <a:srgbClr val="FFFFF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88BE5-EEF3-4E0F-B1C9-D371D7A91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89C9-9F42-478C-BEBB-E729C7FCF667}" type="slidenum">
              <a:rPr lang="vi-VN" smtClean="0"/>
              <a:pPr/>
              <a:t>10</a:t>
            </a:fld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Giọt nước">
  <a:themeElements>
    <a:clrScheme name="Giọt nước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iọt nước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ọt nước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F6F359192A4E4DB50EC0E6D0070C2A" ma:contentTypeVersion="5" ma:contentTypeDescription="Create a new document." ma:contentTypeScope="" ma:versionID="3c62c7360af47bdbe00ac24a4f6cc5dd">
  <xsd:schema xmlns:xsd="http://www.w3.org/2001/XMLSchema" xmlns:xs="http://www.w3.org/2001/XMLSchema" xmlns:p="http://schemas.microsoft.com/office/2006/metadata/properties" xmlns:ns3="99075039-9fe5-46a6-a578-4f2dc221f901" targetNamespace="http://schemas.microsoft.com/office/2006/metadata/properties" ma:root="true" ma:fieldsID="527de7801f3279270d551feb021aa449" ns3:_="">
    <xsd:import namespace="99075039-9fe5-46a6-a578-4f2dc221f90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075039-9fe5-46a6-a578-4f2dc221f90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075039-9fe5-46a6-a578-4f2dc221f901" xsi:nil="true"/>
  </documentManagement>
</p:properties>
</file>

<file path=customXml/itemProps1.xml><?xml version="1.0" encoding="utf-8"?>
<ds:datastoreItem xmlns:ds="http://schemas.openxmlformats.org/officeDocument/2006/customXml" ds:itemID="{948A2E12-E7E0-48F6-98E2-22BC19C7D1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075039-9fe5-46a6-a578-4f2dc221f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99D13-9057-4CDD-A5BC-06279C9A95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3278C4-8485-46EB-A582-FDAB117A25C5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purl.org/dc/terms/"/>
    <ds:schemaRef ds:uri="99075039-9fe5-46a6-a578-4f2dc221f90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TM04033925[[fn=Giọt nhỏ]]</Template>
  <TotalTime>387</TotalTime>
  <Words>864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2</vt:i4>
      </vt:variant>
    </vt:vector>
  </HeadingPairs>
  <TitlesOfParts>
    <vt:vector size="25" baseType="lpstr">
      <vt:lpstr>Arial</vt:lpstr>
      <vt:lpstr>Dancing Script</vt:lpstr>
      <vt:lpstr>Montserrat</vt:lpstr>
      <vt:lpstr>Montserrat Bold</vt:lpstr>
      <vt:lpstr>Montserrat Heavy</vt:lpstr>
      <vt:lpstr>Montserrat Italics</vt:lpstr>
      <vt:lpstr>Montserrat Medium</vt:lpstr>
      <vt:lpstr>Montserrat Ultra-Bold</vt:lpstr>
      <vt:lpstr>Paytone One</vt:lpstr>
      <vt:lpstr>Times New Roman</vt:lpstr>
      <vt:lpstr>Tw Cen MT</vt:lpstr>
      <vt:lpstr>Wingdings</vt:lpstr>
      <vt:lpstr>Giọt nước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</dc:title>
  <dc:creator>Luu Vinh Hien - B2509828</dc:creator>
  <cp:lastModifiedBy>Administrator</cp:lastModifiedBy>
  <cp:revision>18</cp:revision>
  <dcterms:created xsi:type="dcterms:W3CDTF">2026-01-25T03:46:30Z</dcterms:created>
  <dcterms:modified xsi:type="dcterms:W3CDTF">2026-03-29T09:09:25Z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0x0101003EF6F359192A4E4DB50EC0E6D0070C2A</vt:lpwstr>
  </property>
</Properties>
</file>